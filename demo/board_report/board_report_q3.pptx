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56616F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Север</c:v>
                </c:pt>
                <c:pt idx="1">
                  <c:v>Юг</c:v>
                </c:pt>
                <c:pt idx="2">
                  <c:v>Центр</c:v>
                </c:pt>
                <c:pt idx="3">
                  <c:v>Урал</c:v>
                </c:pt>
                <c:pt idx="4">
                  <c:v>Сибирь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375.0</c:v>
                </c:pt>
                <c:pt idx="1">
                  <c:v>645.0</c:v>
                </c:pt>
                <c:pt idx="2">
                  <c:v>1050.0</c:v>
                </c:pt>
                <c:pt idx="3">
                  <c:v>465.0</c:v>
                </c:pt>
                <c:pt idx="4">
                  <c:v>300.0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1F3A5F"/>
            </a:solidFill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800" b="0">
                    <a:solidFill>
                      <a:srgbClr val="1D1D1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Север</c:v>
                </c:pt>
                <c:pt idx="1">
                  <c:v>Юг</c:v>
                </c:pt>
                <c:pt idx="2">
                  <c:v>Центр</c:v>
                </c:pt>
                <c:pt idx="3">
                  <c:v>Урал</c:v>
                </c:pt>
                <c:pt idx="4">
                  <c:v>Сибирь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379.0</c:v>
                </c:pt>
                <c:pt idx="1">
                  <c:v>674.0</c:v>
                </c:pt>
                <c:pt idx="2">
                  <c:v>1065.0</c:v>
                </c:pt>
                <c:pt idx="3">
                  <c:v>449.0</c:v>
                </c:pt>
                <c:pt idx="4">
                  <c:v>310.0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1D1D1F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.0"/>
          <c:min val="0.0"/>
        </c:scaling>
        <c:delete val="0"/>
        <c:axPos val="l"/>
        <c:majorGridlines>
          <c:spPr>
            <a:ln w="9525">
              <a:solidFill>
                <a:srgbClr val="D9DEE4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56616F"/>
                </a:solidFill>
                <a:latin typeface="Arial"/>
              </a:defRPr>
            </a:pPr>
          </a:p>
        </c:txPr>
        <c:crossAx val="-2068027336"/>
        <c:crosses val="autoZero"/>
        <c:majorUnit val="250.0"/>
      </c:valAx>
    </c:plotArea>
    <c:legend>
      <c:legendPos val="b"/>
      <c:overlay val="0"/>
      <c:txPr>
        <a:bodyPr/>
        <a:lstStyle/>
        <a:p>
          <a:pPr>
            <a:defRPr sz="900" b="0">
              <a:solidFill>
                <a:srgbClr val="1D1D1F"/>
              </a:solidFill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 b="0">
          <a:solidFill>
            <a:srgbClr val="1D1D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1F3A5F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937.0</c:v>
                </c:pt>
                <c:pt idx="1">
                  <c:v>942.0</c:v>
                </c:pt>
                <c:pt idx="2">
                  <c:v>998.0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Прибыль</c:v>
                </c:pt>
              </c:strCache>
            </c:strRef>
          </c:tx>
          <c:spPr>
            <a:solidFill>
              <a:srgbClr val="E8A33D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124.0</c:v>
                </c:pt>
                <c:pt idx="1">
                  <c:v>105.0</c:v>
                </c:pt>
                <c:pt idx="2">
                  <c:v>133.0</c:v>
                </c:pt>
              </c:numCache>
            </c:numRef>
          </c:val>
        </c:ser>
        <c:gapWidth val="4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Маржа, %</c:v>
                </c:pt>
              </c:strCache>
            </c:strRef>
          </c:tx>
          <c:spPr>
            <a:ln w="25400">
              <a:solidFill>
                <a:srgbClr val="56616F"/>
              </a:solidFill>
            </a:ln>
          </c:spPr>
          <c:marker>
            <c:symbol val="circle"/>
            <c:size val="7"/>
            <c:spPr>
              <a:solidFill>
                <a:srgbClr val="56616F"/>
              </a:solidFill>
              <a:ln>
                <a:solidFill>
                  <a:srgbClr val="FFFFFF"/>
                </a:solidFill>
              </a:ln>
            </c:spPr>
          </c:marker>
          <c:dLbls>
            <c:numFmt formatCode="0.0&quot; %&quot;" sourceLinked="0"/>
            <c:txPr>
              <a:bodyPr/>
              <a:lstStyle/>
              <a:p>
                <a:pPr>
                  <a:defRPr sz="800" b="1">
                    <a:solidFill>
                      <a:srgbClr val="1D1D1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Sheet1!$D$2:$D$4</c:f>
              <c:numCache>
                <c:formatCode>0.0" %"</c:formatCode>
                <c:ptCount val="3"/>
                <c:pt idx="0">
                  <c:v>13.2</c:v>
                </c:pt>
                <c:pt idx="1">
                  <c:v>11.1</c:v>
                </c:pt>
                <c:pt idx="2">
                  <c:v>13.3</c:v>
                </c:pt>
              </c:numCache>
            </c:numRef>
          </c:val>
          <c:smooth val="0"/>
        </c:ser>
        <c:marker val="1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1D1D1F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0.0"/>
          <c:min val="0.0"/>
        </c:scaling>
        <c:delete val="0"/>
        <c:axPos val="l"/>
        <c:majorGridlines>
          <c:spPr>
            <a:ln w="9525">
              <a:solidFill>
                <a:srgbClr val="D9DEE4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56616F"/>
                </a:solidFill>
                <a:latin typeface="Arial"/>
              </a:defRPr>
            </a:pPr>
          </a:p>
        </c:txPr>
        <c:crossAx val="-2068027336"/>
        <c:crosses val="autoZero"/>
        <c:majorUnit val="200.0"/>
      </c:valAx>
      <c:catAx>
        <c:axId val="50010"/>
        <c:scaling>
          <c:orientation val="minMax"/>
        </c:scaling>
        <c:delete val="1"/>
        <c:axPos val="b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5.0"/>
          <c:min val="0.0"/>
        </c:scaling>
        <c:delete val="0"/>
        <c:axPos val="r"/>
        <c:numFmt formatCode="0.0&quot; 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56616F"/>
                </a:solidFill>
                <a:latin typeface="Arial"/>
              </a:defRPr>
            </a:pPr>
          </a:p>
        </c:txPr>
        <c:crossAx val="50010"/>
        <c:crosses val="max"/>
        <c:crossBetween val="between"/>
        <c:majorUnit val="5.0"/>
      </c:valAx>
    </c:plotArea>
    <c:legend>
      <c:legendPos val="b"/>
      <c:overlay val="0"/>
      <c:txPr>
        <a:bodyPr/>
        <a:lstStyle/>
        <a:p>
          <a:pPr>
            <a:defRPr sz="900" b="0">
              <a:solidFill>
                <a:srgbClr val="1D1D1F"/>
              </a:solidFill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 b="0">
          <a:solidFill>
            <a:srgbClr val="1D1D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Заказы</c:v>
                </c:pt>
              </c:strCache>
            </c:strRef>
          </c:tx>
          <c:spPr>
            <a:solidFill>
              <a:srgbClr val="1F3A5F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Север</c:v>
                </c:pt>
                <c:pt idx="1">
                  <c:v>Юг</c:v>
                </c:pt>
                <c:pt idx="2">
                  <c:v>Центр</c:v>
                </c:pt>
                <c:pt idx="3">
                  <c:v>Урал</c:v>
                </c:pt>
                <c:pt idx="4">
                  <c:v>Сибирь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41200.0</c:v>
                </c:pt>
                <c:pt idx="1">
                  <c:v>74800.0</c:v>
                </c:pt>
                <c:pt idx="2">
                  <c:v>118500.0</c:v>
                </c:pt>
                <c:pt idx="3">
                  <c:v>49300.0</c:v>
                </c:pt>
                <c:pt idx="4">
                  <c:v>33900.0</c:v>
                </c:pt>
              </c:numCache>
            </c:numRef>
          </c:val>
        </c:ser>
        <c:gapWidth val="4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Доставка в срок, %</c:v>
                </c:pt>
              </c:strCache>
            </c:strRef>
          </c:tx>
          <c:spPr>
            <a:ln w="25400">
              <a:solidFill>
                <a:srgbClr val="E8A33D"/>
              </a:solidFill>
            </a:ln>
          </c:spPr>
          <c:marker>
            <c:symbol val="circle"/>
            <c:size val="7"/>
            <c:spPr>
              <a:solidFill>
                <a:srgbClr val="E8A33D"/>
              </a:solidFill>
              <a:ln>
                <a:solidFill>
                  <a:srgbClr val="FFFFFF"/>
                </a:solidFill>
              </a:ln>
            </c:spPr>
          </c:marker>
          <c:dLbls>
            <c:numFmt formatCode="0.0&quot; %&quot;" sourceLinked="0"/>
            <c:txPr>
              <a:bodyPr/>
              <a:lstStyle/>
              <a:p>
                <a:pPr>
                  <a:defRPr sz="800" b="1">
                    <a:solidFill>
                      <a:srgbClr val="1D1D1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Север</c:v>
                </c:pt>
                <c:pt idx="1">
                  <c:v>Юг</c:v>
                </c:pt>
                <c:pt idx="2">
                  <c:v>Центр</c:v>
                </c:pt>
                <c:pt idx="3">
                  <c:v>Урал</c:v>
                </c:pt>
                <c:pt idx="4">
                  <c:v>Сибирь</c:v>
                </c:pt>
              </c:strCache>
            </c:strRef>
          </c:cat>
          <c:val>
            <c:numRef>
              <c:f>Sheet1!$C$2:$C$6</c:f>
              <c:numCache>
                <c:formatCode>0.0" %"</c:formatCode>
                <c:ptCount val="5"/>
                <c:pt idx="0">
                  <c:v>94.1</c:v>
                </c:pt>
                <c:pt idx="1">
                  <c:v>91.3</c:v>
                </c:pt>
                <c:pt idx="2">
                  <c:v>95.6</c:v>
                </c:pt>
                <c:pt idx="3">
                  <c:v>89.7</c:v>
                </c:pt>
                <c:pt idx="4">
                  <c:v>87.2</c:v>
                </c:pt>
              </c:numCache>
            </c:numRef>
          </c:val>
          <c:smooth val="0"/>
        </c:ser>
        <c:marker val="1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1D1D1F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0.0"/>
          <c:min val="0.0"/>
        </c:scaling>
        <c:delete val="0"/>
        <c:axPos val="l"/>
        <c:majorGridlines>
          <c:spPr>
            <a:ln w="9525">
              <a:solidFill>
                <a:srgbClr val="D9DEE4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56616F"/>
                </a:solidFill>
                <a:latin typeface="Arial"/>
              </a:defRPr>
            </a:pPr>
          </a:p>
        </c:txPr>
        <c:crossAx val="-2068027336"/>
        <c:crosses val="autoZero"/>
        <c:majorUnit val="25000.0"/>
      </c:valAx>
      <c:catAx>
        <c:axId val="50010"/>
        <c:scaling>
          <c:orientation val="minMax"/>
        </c:scaling>
        <c:delete val="1"/>
        <c:axPos val="b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20.0"/>
          <c:min val="0.0"/>
        </c:scaling>
        <c:delete val="0"/>
        <c:axPos val="r"/>
        <c:numFmt formatCode="0.0&quot; 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56616F"/>
                </a:solidFill>
                <a:latin typeface="Arial"/>
              </a:defRPr>
            </a:pPr>
          </a:p>
        </c:txPr>
        <c:crossAx val="50010"/>
        <c:crosses val="max"/>
        <c:crossBetween val="between"/>
        <c:majorUnit val="20.0"/>
      </c:valAx>
    </c:plotArea>
    <c:legend>
      <c:legendPos val="b"/>
      <c:overlay val="0"/>
      <c:txPr>
        <a:bodyPr/>
        <a:lstStyle/>
        <a:p>
          <a:pPr>
            <a:defRPr sz="900" b="0">
              <a:solidFill>
                <a:srgbClr val="1D1D1F"/>
              </a:solidFill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 b="0">
          <a:solidFill>
            <a:srgbClr val="1D1D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Прошлый год</c:v>
                </c:pt>
              </c:strCache>
            </c:strRef>
          </c:tx>
          <c:spPr>
            <a:solidFill>
              <a:srgbClr val="56616F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Север</c:v>
                </c:pt>
                <c:pt idx="1">
                  <c:v>Юг</c:v>
                </c:pt>
                <c:pt idx="2">
                  <c:v>Центр</c:v>
                </c:pt>
                <c:pt idx="3">
                  <c:v>Урал</c:v>
                </c:pt>
                <c:pt idx="4">
                  <c:v>Сибирь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340.0</c:v>
                </c:pt>
                <c:pt idx="1">
                  <c:v>600.0</c:v>
                </c:pt>
                <c:pt idx="2">
                  <c:v>1000.0</c:v>
                </c:pt>
                <c:pt idx="3">
                  <c:v>440.0</c:v>
                </c:pt>
                <c:pt idx="4">
                  <c:v>280.0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Текущий год</c:v>
                </c:pt>
              </c:strCache>
            </c:strRef>
          </c:tx>
          <c:spPr>
            <a:solidFill>
              <a:srgbClr val="1F3A5F"/>
            </a:solidFill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800" b="0">
                    <a:solidFill>
                      <a:srgbClr val="1D1D1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Север</c:v>
                </c:pt>
                <c:pt idx="1">
                  <c:v>Юг</c:v>
                </c:pt>
                <c:pt idx="2">
                  <c:v>Центр</c:v>
                </c:pt>
                <c:pt idx="3">
                  <c:v>Урал</c:v>
                </c:pt>
                <c:pt idx="4">
                  <c:v>Сибирь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379.0</c:v>
                </c:pt>
                <c:pt idx="1">
                  <c:v>674.0</c:v>
                </c:pt>
                <c:pt idx="2">
                  <c:v>1065.0</c:v>
                </c:pt>
                <c:pt idx="3">
                  <c:v>449.0</c:v>
                </c:pt>
                <c:pt idx="4">
                  <c:v>310.0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1D1D1F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.0"/>
          <c:min val="0.0"/>
        </c:scaling>
        <c:delete val="0"/>
        <c:axPos val="l"/>
        <c:majorGridlines>
          <c:spPr>
            <a:ln w="9525">
              <a:solidFill>
                <a:srgbClr val="D9DEE4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b="0">
                <a:solidFill>
                  <a:srgbClr val="56616F"/>
                </a:solidFill>
                <a:latin typeface="Arial"/>
              </a:defRPr>
            </a:pPr>
          </a:p>
        </c:txPr>
        <c:crossAx val="-2068027336"/>
        <c:crosses val="autoZero"/>
        <c:majorUnit val="250.0"/>
      </c:valAx>
    </c:plotArea>
    <c:legend>
      <c:legendPos val="b"/>
      <c:overlay val="0"/>
      <c:txPr>
        <a:bodyPr/>
        <a:lstStyle/>
        <a:p>
          <a:pPr>
            <a:defRPr sz="900" b="0">
              <a:solidFill>
                <a:srgbClr val="1D1D1F"/>
              </a:solidFill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 b="0">
          <a:solidFill>
            <a:srgbClr val="1D1D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448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400" b="1" i="0">
                <a:solidFill>
                  <a:srgbClr val="1F3A5F"/>
                </a:solidFill>
                <a:latin typeface="Georgia"/>
              </a:rPr>
              <a:t>План выполнен, но маржа просела в августе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81000"/>
            <a:ext cx="1143000" cy="381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600" y="990600"/>
            <a:ext cx="2600325" cy="1600200"/>
          </a:xfrm>
          <a:prstGeom prst="roundRect">
            <a:avLst>
              <a:gd name="adj" fmla="val 5952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100" y="11620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333500"/>
            <a:ext cx="2219325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50" b="1" i="0">
                <a:solidFill>
                  <a:srgbClr val="1D1D1F"/>
                </a:solidFill>
                <a:latin typeface="Georgia"/>
              </a:rPr>
              <a:t>2 877</a:t>
            </a:r>
            <a:r>
              <a:rPr sz="1200" b="0" i="0">
                <a:solidFill>
                  <a:srgbClr val="56616F"/>
                </a:solidFill>
                <a:latin typeface="Arial"/>
              </a:rPr>
              <a:t> млн 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800225"/>
            <a:ext cx="2219325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56616F"/>
                </a:solidFill>
                <a:latin typeface="Arial"/>
              </a:rPr>
              <a:t>Выручка за квартал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0425" y="990600"/>
            <a:ext cx="2600325" cy="1600200"/>
          </a:xfrm>
          <a:prstGeom prst="roundRect">
            <a:avLst>
              <a:gd name="adj" fmla="val 5952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90925" y="11620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0925" y="1333500"/>
            <a:ext cx="2219325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50" b="1" i="0">
                <a:solidFill>
                  <a:srgbClr val="1D1D1F"/>
                </a:solidFill>
                <a:latin typeface="Georgia"/>
              </a:rPr>
              <a:t>8,2</a:t>
            </a:r>
            <a:r>
              <a:rPr sz="1200" b="0" i="0">
                <a:solidFill>
                  <a:srgbClr val="56616F"/>
                </a:solidFill>
                <a:latin typeface="Arial"/>
              </a:rPr>
              <a:t>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0925" y="1800225"/>
            <a:ext cx="2219325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56616F"/>
                </a:solidFill>
                <a:latin typeface="Arial"/>
              </a:rPr>
              <a:t>Рост к прошлому году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250" y="990600"/>
            <a:ext cx="2600325" cy="1600200"/>
          </a:xfrm>
          <a:prstGeom prst="roundRect">
            <a:avLst>
              <a:gd name="adj" fmla="val 5952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1750" y="11620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1750" y="1333500"/>
            <a:ext cx="2219325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50" b="1" i="0">
                <a:solidFill>
                  <a:srgbClr val="1D1D1F"/>
                </a:solidFill>
                <a:latin typeface="Georgia"/>
              </a:rPr>
              <a:t>13,3</a:t>
            </a:r>
            <a:r>
              <a:rPr sz="1200" b="0" i="0">
                <a:solidFill>
                  <a:srgbClr val="56616F"/>
                </a:solidFill>
                <a:latin typeface="Arial"/>
              </a:rPr>
              <a:t>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0" y="1800225"/>
            <a:ext cx="2219325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56616F"/>
                </a:solidFill>
                <a:latin typeface="Arial"/>
              </a:rPr>
              <a:t>Маржа в сентябре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2075" y="990600"/>
            <a:ext cx="2600325" cy="1600200"/>
          </a:xfrm>
          <a:prstGeom prst="roundRect">
            <a:avLst>
              <a:gd name="adj" fmla="val 5952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72575" y="11620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2575" y="1333500"/>
            <a:ext cx="2219325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550" b="1" i="0">
                <a:solidFill>
                  <a:srgbClr val="1D1D1F"/>
                </a:solidFill>
                <a:latin typeface="Georgia"/>
              </a:rPr>
              <a:t>96,6</a:t>
            </a:r>
            <a:r>
              <a:rPr sz="1200" b="0" i="0">
                <a:solidFill>
                  <a:srgbClr val="56616F"/>
                </a:solidFill>
                <a:latin typeface="Arial"/>
              </a:rPr>
              <a:t>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2575" y="1800225"/>
            <a:ext cx="2219325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56616F"/>
                </a:solidFill>
                <a:latin typeface="Arial"/>
              </a:rPr>
              <a:t>Выполнение плана (Урал)</a:t>
            </a:r>
          </a:p>
        </p:txBody>
      </p:sp>
      <p:sp>
        <p:nvSpPr>
          <p:cNvPr id="20" name="Oval 19"/>
          <p:cNvSpPr/>
          <p:nvPr/>
        </p:nvSpPr>
        <p:spPr>
          <a:xfrm>
            <a:off x="609600" y="3543300"/>
            <a:ext cx="285750" cy="28575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35433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1125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" y="3562350"/>
            <a:ext cx="1051560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425" b="0" i="0">
                <a:solidFill>
                  <a:srgbClr val="1D1D1F"/>
                </a:solidFill>
                <a:latin typeface="Arial"/>
              </a:rPr>
              <a:t>Компания выполнила план на 101,5 %: выручка 2 877 млн ₽.</a:t>
            </a:r>
          </a:p>
        </p:txBody>
      </p:sp>
      <p:sp>
        <p:nvSpPr>
          <p:cNvPr id="23" name="Oval 22"/>
          <p:cNvSpPr/>
          <p:nvPr/>
        </p:nvSpPr>
        <p:spPr>
          <a:xfrm>
            <a:off x="609600" y="4019550"/>
            <a:ext cx="285750" cy="28575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40195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1125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4038600"/>
            <a:ext cx="1051560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425" b="0" i="0">
                <a:solidFill>
                  <a:srgbClr val="1D1D1F"/>
                </a:solidFill>
                <a:latin typeface="Arial"/>
              </a:rPr>
              <a:t>Рост к прошлому году составил +8,2 %; оценка из комментария завышена.</a:t>
            </a:r>
          </a:p>
        </p:txBody>
      </p:sp>
      <p:sp>
        <p:nvSpPr>
          <p:cNvPr id="26" name="Oval 25"/>
          <p:cNvSpPr/>
          <p:nvPr/>
        </p:nvSpPr>
        <p:spPr>
          <a:xfrm>
            <a:off x="609600" y="4495800"/>
            <a:ext cx="285750" cy="28575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44958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1125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800" y="4514850"/>
            <a:ext cx="1051560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425" b="0" i="0">
                <a:solidFill>
                  <a:srgbClr val="1D1D1F"/>
                </a:solidFill>
                <a:latin typeface="Arial"/>
              </a:rPr>
              <a:t>Маржа просела в августе до 11,1 % и восстановилась в сентябре до 13,3 %.</a:t>
            </a:r>
          </a:p>
        </p:txBody>
      </p:sp>
      <p:sp>
        <p:nvSpPr>
          <p:cNvPr id="29" name="Oval 28"/>
          <p:cNvSpPr/>
          <p:nvPr/>
        </p:nvSpPr>
        <p:spPr>
          <a:xfrm>
            <a:off x="609600" y="4972050"/>
            <a:ext cx="285750" cy="28575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49720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1125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6800" y="4991100"/>
            <a:ext cx="1051560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425" b="0" i="0">
                <a:solidFill>
                  <a:srgbClr val="1D1D1F"/>
                </a:solidFill>
                <a:latin typeface="Arial"/>
              </a:rPr>
              <a:t>Единственный филиал ниже плана — Урал (96,6 %); качество сервиса там ниже среднего по сети.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6534150"/>
            <a:ext cx="16022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Финансовый отчёт · 3 квартал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59902" y="6534150"/>
            <a:ext cx="22249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448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400" b="1" i="0">
                <a:solidFill>
                  <a:srgbClr val="1F3A5F"/>
                </a:solidFill>
                <a:latin typeface="Georgia"/>
              </a:rPr>
              <a:t>Урал — единственный филиал ниже плана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19150"/>
            <a:ext cx="94488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56616F"/>
                </a:solidFill>
                <a:latin typeface="Arial"/>
              </a:rPr>
              <a:t>Выручка за 3 квартал: план против факта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81000"/>
            <a:ext cx="1143000" cy="38100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600" y="1257300"/>
          <a:ext cx="6200775" cy="43053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53275" y="1257300"/>
          <a:ext cx="4429126" cy="275272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09105"/>
                <a:gridCol w="1006525"/>
                <a:gridCol w="1006525"/>
                <a:gridCol w="1006971"/>
              </a:tblGrid>
              <a:tr h="466725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56616F"/>
                          </a:solidFill>
                          <a:latin typeface="Arial"/>
                        </a:rPr>
                        <a:t>Филиал</a:t>
                      </a:r>
                    </a:p>
                  </a:txBody>
                  <a:tcPr marT="76200" marR="95250" marB="76200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6616F"/>
                          </a:solidFill>
                          <a:latin typeface="Arial"/>
                        </a:rPr>
                        <a:t>Факт</a:t>
                      </a:r>
                    </a:p>
                  </a:txBody>
                  <a:tcPr marT="76200" marR="95250" marB="76200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6616F"/>
                          </a:solidFill>
                          <a:latin typeface="Arial"/>
                        </a:rPr>
                        <a:t>Откл. от плана</a:t>
                      </a:r>
                    </a:p>
                  </a:txBody>
                  <a:tcPr marT="76200" marR="95250" marB="76200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6616F"/>
                          </a:solidFill>
                          <a:latin typeface="Arial"/>
                        </a:rPr>
                        <a:t>Выполнение, %</a:t>
                      </a:r>
                    </a:p>
                  </a:txBody>
                  <a:tcPr marT="76200" marR="95250" marB="76200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</a:tr>
              <a:tr h="3571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Север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2F7D4F"/>
                          </a:solidFill>
                          <a:latin typeface="Arial"/>
                        </a:rPr>
                        <a:t>+4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101,1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5242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Юг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2F7D4F"/>
                          </a:solidFill>
                          <a:latin typeface="Arial"/>
                        </a:rPr>
                        <a:t>+29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104,5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5242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Центр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1 065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2F7D4F"/>
                          </a:solidFill>
                          <a:latin typeface="Arial"/>
                        </a:rPr>
                        <a:t>+15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101,4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5242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Урал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B3352B"/>
                          </a:solidFill>
                          <a:latin typeface="Arial"/>
                        </a:rPr>
                        <a:t>−16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B3352B"/>
                          </a:solidFill>
                          <a:latin typeface="Arial"/>
                        </a:rPr>
                        <a:t>96,6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5242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Сибирь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2F7D4F"/>
                          </a:solidFill>
                          <a:latin typeface="Arial"/>
                        </a:rPr>
                        <a:t>+10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103,3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51911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D1D1F"/>
                          </a:solidFill>
                          <a:latin typeface="Arial"/>
                        </a:rPr>
                        <a:t>Итого по компании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D1D1F"/>
                          </a:solidFill>
                          <a:latin typeface="Arial"/>
                        </a:rPr>
                        <a:t>2 877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2F7D4F"/>
                          </a:solidFill>
                          <a:latin typeface="Arial"/>
                        </a:rPr>
                        <a:t>+42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D1D1F"/>
                          </a:solidFill>
                          <a:latin typeface="Arial"/>
                        </a:rPr>
                        <a:t>101,5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09600" y="571500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2950" y="584835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483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1D1D1F"/>
                </a:solidFill>
                <a:latin typeface="Arial"/>
              </a:rPr>
              <a:t>Урал не выполнил план: недобор 16 млн ₽. Остальные филиалы план перевыполнили.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16022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Финансовый отчёт · 3 квартал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9902" y="6534150"/>
            <a:ext cx="22249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448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400" b="1" i="0">
                <a:solidFill>
                  <a:srgbClr val="1F3A5F"/>
                </a:solidFill>
                <a:latin typeface="Georgia"/>
              </a:rPr>
              <a:t>Выручка растёт, но прибыль просела в августе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819150"/>
            <a:ext cx="94488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56616F"/>
                </a:solidFill>
                <a:latin typeface="Arial"/>
              </a:rPr>
              <a:t>Динамика по месяцам 3 квартала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81000"/>
            <a:ext cx="1143000" cy="38100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600" y="1257300"/>
          <a:ext cx="10972800" cy="43053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9600" y="571500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2950" y="584835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483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1D1D1F"/>
                </a:solidFill>
                <a:latin typeface="Arial"/>
              </a:rPr>
              <a:t>В августе затраты выросли быстрее выручки, что привело к снижению маржи до 11,1 %.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6534150"/>
            <a:ext cx="16022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Финансовый отчёт · 3 квартал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9902" y="6534150"/>
            <a:ext cx="22249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448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400" b="1" i="0">
                <a:solidFill>
                  <a:srgbClr val="1F3A5F"/>
                </a:solidFill>
                <a:latin typeface="Georgia"/>
              </a:rPr>
              <a:t>Затраты: ФОТ — основа, маркетинг и топливо растут быстрее всего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200150"/>
            <a:ext cx="94488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56616F"/>
                </a:solidFill>
                <a:latin typeface="Arial"/>
              </a:rPr>
              <a:t>Структура затрат за 3 квартал и изменение за период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81000"/>
            <a:ext cx="1143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6383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Aft>
                <a:spcPts val="900"/>
              </a:spcAft>
            </a:pPr>
            <a:r>
              <a:rPr sz="1200" b="0" i="0">
                <a:solidFill>
                  <a:srgbClr val="56616F"/>
                </a:solidFill>
                <a:latin typeface="Arial"/>
              </a:rPr>
              <a:t>Всего затрат: </a:t>
            </a:r>
            <a:r>
              <a:rPr sz="1200" b="1" i="0">
                <a:solidFill>
                  <a:srgbClr val="1D1D1F"/>
                </a:solidFill>
                <a:latin typeface="Arial"/>
              </a:rPr>
              <a:t>2 515 млн ₽</a:t>
            </a:r>
            <a:r>
              <a:rPr sz="1200" b="0" i="0">
                <a:solidFill>
                  <a:srgbClr val="56616F"/>
                </a:solidFill>
                <a:latin typeface="Arial"/>
              </a:rPr>
              <a:t> · Изменение затрат за квартал (сентябрь к июлю)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962150"/>
            <a:ext cx="4952554" cy="723900"/>
          </a:xfrm>
          <a:prstGeom prst="roundRect">
            <a:avLst>
              <a:gd name="adj" fmla="val 5263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900" y="2076450"/>
            <a:ext cx="4762054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45,6 %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90729" y="1962150"/>
            <a:ext cx="2547491" cy="723900"/>
          </a:xfrm>
          <a:prstGeom prst="roundRect">
            <a:avLst>
              <a:gd name="adj" fmla="val 5263"/>
            </a:avLst>
          </a:prstGeom>
          <a:solidFill>
            <a:srgbClr val="4C6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05029" y="2076450"/>
            <a:ext cx="2356991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23,5 %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6795" y="1962150"/>
            <a:ext cx="1424583" cy="723900"/>
          </a:xfrm>
          <a:prstGeom prst="roundRect">
            <a:avLst>
              <a:gd name="adj" fmla="val 5263"/>
            </a:avLst>
          </a:prstGeom>
          <a:solidFill>
            <a:srgbClr val="7485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1095" y="2076450"/>
            <a:ext cx="1234083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13,1 %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9952" y="1962150"/>
            <a:ext cx="1178123" cy="723900"/>
          </a:xfrm>
          <a:prstGeom prst="roundRect">
            <a:avLst>
              <a:gd name="adj" fmla="val 5263"/>
            </a:avLst>
          </a:prstGeom>
          <a:solidFill>
            <a:srgbClr val="98A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4252" y="2076450"/>
            <a:ext cx="987623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>
                <a:solidFill>
                  <a:srgbClr val="1D1D1F"/>
                </a:solidFill>
                <a:latin typeface="Arial"/>
              </a:rPr>
              <a:t>10,9 %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26651" y="1962150"/>
            <a:ext cx="755749" cy="723900"/>
          </a:xfrm>
          <a:prstGeom prst="roundRect">
            <a:avLst>
              <a:gd name="adj" fmla="val 5263"/>
            </a:avLst>
          </a:prstGeom>
          <a:solidFill>
            <a:srgbClr val="B7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9600" y="299085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300" y="2952750"/>
            <a:ext cx="31623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275" b="1" i="0">
                <a:solidFill>
                  <a:srgbClr val="1D1D1F"/>
                </a:solidFill>
                <a:latin typeface="Arial"/>
              </a:rPr>
              <a:t>ФОТ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190875"/>
            <a:ext cx="316230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 i="0">
                <a:solidFill>
                  <a:srgbClr val="56616F"/>
                </a:solidFill>
                <a:latin typeface="Arial"/>
              </a:rPr>
              <a:t>1 147 млн ₽ · 45,6 %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409950"/>
            <a:ext cx="3162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050" b="1" i="0">
                <a:solidFill>
                  <a:srgbClr val="56616F"/>
                </a:solidFill>
                <a:latin typeface="Arial"/>
              </a:rPr>
              <a:t>+1,3 %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1500" y="299085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4C6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8200" y="2952750"/>
            <a:ext cx="31623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275" b="1" i="0">
                <a:solidFill>
                  <a:srgbClr val="1D1D1F"/>
                </a:solidFill>
                <a:latin typeface="Arial"/>
              </a:rPr>
              <a:t>Топливо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8200" y="3190875"/>
            <a:ext cx="316230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 i="0">
                <a:solidFill>
                  <a:srgbClr val="56616F"/>
                </a:solidFill>
                <a:latin typeface="Arial"/>
              </a:rPr>
              <a:t>590 млн ₽ · 23,5 %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8200" y="3409950"/>
            <a:ext cx="3162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050" b="1" i="0">
                <a:solidFill>
                  <a:srgbClr val="B3352B"/>
                </a:solidFill>
                <a:latin typeface="Arial"/>
              </a:rPr>
              <a:t>+7,9 %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3400" y="299085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7485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0100" y="2952750"/>
            <a:ext cx="31623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275" b="1" i="0">
                <a:solidFill>
                  <a:srgbClr val="1D1D1F"/>
                </a:solidFill>
                <a:latin typeface="Arial"/>
              </a:rPr>
              <a:t>Аренда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0100" y="3190875"/>
            <a:ext cx="316230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 i="0">
                <a:solidFill>
                  <a:srgbClr val="56616F"/>
                </a:solidFill>
                <a:latin typeface="Arial"/>
              </a:rPr>
              <a:t>330 млн ₽ · 13,1 %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0100" y="3409950"/>
            <a:ext cx="3162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050" b="1" i="0">
                <a:solidFill>
                  <a:srgbClr val="56616F"/>
                </a:solidFill>
                <a:latin typeface="Arial"/>
              </a:rPr>
              <a:t>0,0 %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600" y="381000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98A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00" y="3771900"/>
            <a:ext cx="31623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275" b="1" i="0">
                <a:solidFill>
                  <a:srgbClr val="1D1D1F"/>
                </a:solidFill>
                <a:latin typeface="Arial"/>
              </a:rPr>
              <a:t>Прочее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300" y="4010025"/>
            <a:ext cx="316230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 i="0">
                <a:solidFill>
                  <a:srgbClr val="56616F"/>
                </a:solidFill>
                <a:latin typeface="Arial"/>
              </a:rPr>
              <a:t>273 млн ₽ · 10,9 %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4229100"/>
            <a:ext cx="3162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050" b="1" i="0">
                <a:solidFill>
                  <a:srgbClr val="B3352B"/>
                </a:solidFill>
                <a:latin typeface="Arial"/>
              </a:rPr>
              <a:t>+8,0 %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1500" y="381000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B7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771900"/>
            <a:ext cx="31623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275" b="1" i="0">
                <a:solidFill>
                  <a:srgbClr val="1D1D1F"/>
                </a:solidFill>
                <a:latin typeface="Arial"/>
              </a:rPr>
              <a:t>Маркетинг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200" y="4010025"/>
            <a:ext cx="316230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 i="0">
                <a:solidFill>
                  <a:srgbClr val="56616F"/>
                </a:solidFill>
                <a:latin typeface="Arial"/>
              </a:rPr>
              <a:t>175 млн ₽ · 7,0 %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229100"/>
            <a:ext cx="3162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050" b="1" i="0">
                <a:solidFill>
                  <a:srgbClr val="B3352B"/>
                </a:solidFill>
                <a:latin typeface="Arial"/>
              </a:rPr>
              <a:t>+55,6 %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600" y="571500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2950" y="584835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483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1D1D1F"/>
                </a:solidFill>
                <a:latin typeface="Arial"/>
              </a:rPr>
              <a:t>Маркетинг вырос на 55,6 %, топливо — на +7,9 % за квартал.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16022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Финансовый отчёт · 3 квартал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59902" y="6534150"/>
            <a:ext cx="22249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448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400" b="1" i="0">
                <a:solidFill>
                  <a:srgbClr val="1F3A5F"/>
                </a:solidFill>
                <a:latin typeface="Georgia"/>
              </a:rPr>
              <a:t>Качество сервиса: Урал и Сибирь отстают по доставке и жалобам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200150"/>
            <a:ext cx="94488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56616F"/>
                </a:solidFill>
                <a:latin typeface="Arial"/>
              </a:rPr>
              <a:t>Операционные показатели по филиалам за 3 квартал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81000"/>
            <a:ext cx="1143000" cy="381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38300"/>
          <a:ext cx="10972799" cy="23098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44850"/>
                <a:gridCol w="2031950"/>
                <a:gridCol w="2031950"/>
                <a:gridCol w="2031950"/>
                <a:gridCol w="2032099"/>
              </a:tblGrid>
              <a:tr h="352425">
                <a:tc>
                  <a:txBody>
                    <a:bodyPr wrap="square"/>
                    <a:lstStyle/>
                    <a:p>
                      <a:pPr algn="l"/>
                      <a:r>
                        <a:rPr sz="975" b="1" i="0">
                          <a:solidFill>
                            <a:srgbClr val="56616F"/>
                          </a:solidFill>
                          <a:latin typeface="Arial"/>
                        </a:rPr>
                        <a:t>Филиал</a:t>
                      </a:r>
                    </a:p>
                  </a:txBody>
                  <a:tcPr marT="85725" marR="114300" marB="85725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1" i="0">
                          <a:solidFill>
                            <a:srgbClr val="56616F"/>
                          </a:solidFill>
                          <a:latin typeface="Arial"/>
                        </a:rPr>
                        <a:t>Заказы, шт.</a:t>
                      </a:r>
                    </a:p>
                  </a:txBody>
                  <a:tcPr marT="85725" marR="114300" marB="85725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1" i="0">
                          <a:solidFill>
                            <a:srgbClr val="56616F"/>
                          </a:solidFill>
                          <a:latin typeface="Arial"/>
                        </a:rPr>
                        <a:t>Доставка в срок, %</a:t>
                      </a:r>
                    </a:p>
                  </a:txBody>
                  <a:tcPr marT="85725" marR="114300" marB="85725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1" i="0">
                          <a:solidFill>
                            <a:srgbClr val="56616F"/>
                          </a:solidFill>
                          <a:latin typeface="Arial"/>
                        </a:rPr>
                        <a:t>NPS</a:t>
                      </a:r>
                    </a:p>
                  </a:txBody>
                  <a:tcPr marT="85725" marR="114300" marB="85725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75" b="1" i="0">
                          <a:solidFill>
                            <a:srgbClr val="56616F"/>
                          </a:solidFill>
                          <a:latin typeface="Arial"/>
                        </a:rPr>
                        <a:t>Жалоб на 1000 заказов</a:t>
                      </a:r>
                    </a:p>
                  </a:txBody>
                  <a:tcPr marT="85725" marR="114300" marB="85725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</a:tr>
              <a:tr h="395288"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Север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41 200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94,1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7,5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Юг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74 800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91,3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Центр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118 500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95,6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6,9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Урал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49 300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89,7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Сибирь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33 900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1" i="0">
                          <a:solidFill>
                            <a:srgbClr val="B3352B"/>
                          </a:solidFill>
                          <a:latin typeface="Arial"/>
                        </a:rPr>
                        <a:t>87,2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нет данных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5" b="1" i="0">
                          <a:solidFill>
                            <a:srgbClr val="B3352B"/>
                          </a:solidFill>
                          <a:latin typeface="Arial"/>
                        </a:rPr>
                        <a:t>13,9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9600" y="571500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2950" y="584835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483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1D1D1F"/>
                </a:solidFill>
                <a:latin typeface="Arial"/>
              </a:rPr>
              <a:t>Урал имеет наихудшие показатели по доставке (89,7 %) и NPS (44), Сибирь — по жалобам (13,9).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6534150"/>
            <a:ext cx="16022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Финансовый отчёт · 3 квартал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9902" y="6534150"/>
            <a:ext cx="22249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448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400" b="1" i="0">
                <a:solidFill>
                  <a:srgbClr val="1F3A5F"/>
                </a:solidFill>
                <a:latin typeface="Georgia"/>
              </a:rPr>
              <a:t>Связь объёма и качества: малые филиалы показывают худшие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200150"/>
            <a:ext cx="94488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56616F"/>
                </a:solidFill>
                <a:latin typeface="Arial"/>
              </a:rPr>
              <a:t>Заказы против уровня сервиса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81000"/>
            <a:ext cx="1143000" cy="38100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600" y="1638300"/>
          <a:ext cx="6200775" cy="39243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53275" y="1638300"/>
          <a:ext cx="4429126" cy="208121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09105"/>
                <a:gridCol w="1006525"/>
                <a:gridCol w="1006525"/>
                <a:gridCol w="1006971"/>
              </a:tblGrid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56616F"/>
                          </a:solidFill>
                          <a:latin typeface="Arial"/>
                        </a:rPr>
                        <a:t>Филиал</a:t>
                      </a:r>
                    </a:p>
                  </a:txBody>
                  <a:tcPr marT="76200" marR="95250" marB="76200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6616F"/>
                          </a:solidFill>
                          <a:latin typeface="Arial"/>
                        </a:rPr>
                        <a:t>Заказы</a:t>
                      </a:r>
                    </a:p>
                  </a:txBody>
                  <a:tcPr marT="76200" marR="95250" marB="76200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6616F"/>
                          </a:solidFill>
                          <a:latin typeface="Arial"/>
                        </a:rPr>
                        <a:t>Доставка, %</a:t>
                      </a:r>
                    </a:p>
                  </a:txBody>
                  <a:tcPr marT="76200" marR="95250" marB="76200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56616F"/>
                          </a:solidFill>
                          <a:latin typeface="Arial"/>
                        </a:rPr>
                        <a:t>Жалоб / 1000</a:t>
                      </a:r>
                    </a:p>
                  </a:txBody>
                  <a:tcPr marT="76200" marR="95250" marB="76200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</a:tr>
              <a:tr h="3571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Север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41 200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94,1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7,5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5242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Юг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74 800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91,3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5242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Центр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118 500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95,6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6,9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5242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Урал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49 300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89,7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52425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Сибирь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33 900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87,2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D1D1F"/>
                          </a:solidFill>
                          <a:latin typeface="Arial"/>
                        </a:rPr>
                        <a:t>13,9</a:t>
                      </a:r>
                    </a:p>
                  </a:txBody>
                  <a:tcPr marT="85725" marR="95250" marB="8572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09600" y="571500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2950" y="584835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483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1D1D1F"/>
                </a:solidFill>
                <a:latin typeface="Arial"/>
              </a:rPr>
              <a:t>Филиалы с меньшим объёмом заказов (Урал, Сибирь) демонстрируют более низкую долю своевременных доставок и выше уровень жалоб.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16022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Финансовый отчёт · 3 квартал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9902" y="6534150"/>
            <a:ext cx="22249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448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400" b="1" i="0">
                <a:solidFill>
                  <a:srgbClr val="1F3A5F"/>
                </a:solidFill>
                <a:latin typeface="Georgia"/>
              </a:rPr>
              <a:t>Рост к прошлому году: Юг и Север лидируют, Урал отстаёт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200150"/>
            <a:ext cx="94488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56616F"/>
                </a:solidFill>
                <a:latin typeface="Arial"/>
              </a:rPr>
              <a:t>Сравнение выручки 3 квартала текущего и прошлого года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81000"/>
            <a:ext cx="1143000" cy="38100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600" y="1638300"/>
          <a:ext cx="10972800" cy="39243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9600" y="571500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2950" y="5848350"/>
            <a:ext cx="38100" cy="20955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48350"/>
            <a:ext cx="10477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00" b="0" i="0">
                <a:solidFill>
                  <a:srgbClr val="1D1D1F"/>
                </a:solidFill>
                <a:latin typeface="Arial"/>
              </a:rPr>
              <a:t>Рост по компании +8,2 %. Урал показал минимальный прирост — 2,0 %.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6534150"/>
            <a:ext cx="16022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Финансовый отчёт · 3 квартал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9902" y="6534150"/>
            <a:ext cx="22249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448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400" b="1" i="0">
                <a:solidFill>
                  <a:srgbClr val="1F3A5F"/>
                </a:solidFill>
                <a:latin typeface="Georgia"/>
              </a:rPr>
              <a:t>Риски и решения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81000"/>
            <a:ext cx="114300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990600"/>
            <a:ext cx="5334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Aft>
                <a:spcPts val="150"/>
              </a:spcAft>
            </a:pPr>
            <a:r>
              <a:rPr sz="1500" b="1" i="0">
                <a:solidFill>
                  <a:srgbClr val="B3352B"/>
                </a:solidFill>
                <a:latin typeface="Georgia"/>
              </a:rPr>
              <a:t>Риски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371600"/>
            <a:ext cx="5334000" cy="923925"/>
          </a:xfrm>
          <a:prstGeom prst="roundRect">
            <a:avLst>
              <a:gd name="adj" fmla="val 8247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1524000"/>
            <a:ext cx="38100" cy="619125"/>
          </a:xfrm>
          <a:prstGeom prst="roundRect">
            <a:avLst>
              <a:gd name="adj" fmla="val 50000"/>
            </a:avLst>
          </a:prstGeom>
          <a:solidFill>
            <a:srgbClr val="B3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3450" y="1504950"/>
            <a:ext cx="481965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275" b="1" i="0">
                <a:solidFill>
                  <a:srgbClr val="1D1D1F"/>
                </a:solidFill>
                <a:latin typeface="Arial"/>
              </a:rPr>
              <a:t>Невыполнение плана на Урале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1762125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 i="0">
                <a:solidFill>
                  <a:srgbClr val="1D1D1F"/>
                </a:solidFill>
                <a:latin typeface="Arial"/>
              </a:rPr>
              <a:t>Урал не достиг плана по выручке (96,6 %) и показывает худшие операционные метрики (доставка 89,7 %, NPS 44).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2409825"/>
            <a:ext cx="5334000" cy="923925"/>
          </a:xfrm>
          <a:prstGeom prst="roundRect">
            <a:avLst>
              <a:gd name="adj" fmla="val 8247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2000" y="2562225"/>
            <a:ext cx="38100" cy="619125"/>
          </a:xfrm>
          <a:prstGeom prst="roundRect">
            <a:avLst>
              <a:gd name="adj" fmla="val 50000"/>
            </a:avLst>
          </a:prstGeom>
          <a:solidFill>
            <a:srgbClr val="B3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" y="2543175"/>
            <a:ext cx="481965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275" b="1" i="0">
                <a:solidFill>
                  <a:srgbClr val="1D1D1F"/>
                </a:solidFill>
                <a:latin typeface="Arial"/>
              </a:rPr>
              <a:t>Волатильность маржи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2800350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 i="0">
                <a:solidFill>
                  <a:srgbClr val="1D1D1F"/>
                </a:solidFill>
                <a:latin typeface="Arial"/>
              </a:rPr>
              <a:t>Маржа снизилась в августе до 11,1 % из-за опережающего роста затрат (маркетинг, топливо), что ставит под вопрос устойчивость прибыли.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3448050"/>
            <a:ext cx="5334000" cy="923925"/>
          </a:xfrm>
          <a:prstGeom prst="roundRect">
            <a:avLst>
              <a:gd name="adj" fmla="val 8247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3600450"/>
            <a:ext cx="38100" cy="619125"/>
          </a:xfrm>
          <a:prstGeom prst="roundRect">
            <a:avLst>
              <a:gd name="adj" fmla="val 50000"/>
            </a:avLst>
          </a:prstGeom>
          <a:solidFill>
            <a:srgbClr val="B3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450" y="3581400"/>
            <a:ext cx="481965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275" b="1" i="0">
                <a:solidFill>
                  <a:srgbClr val="1D1D1F"/>
                </a:solidFill>
                <a:latin typeface="Arial"/>
              </a:rPr>
              <a:t>Деградация сервиса в малых филиалах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3838575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 i="0">
                <a:solidFill>
                  <a:srgbClr val="1D1D1F"/>
                </a:solidFill>
                <a:latin typeface="Arial"/>
              </a:rPr>
              <a:t>Сибирь и Урал имеют наивысший уровень жалоб на 1000 заказов (13,9 и 11,0), что может повлиять на удержание клиентов.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990600"/>
            <a:ext cx="5334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Aft>
                <a:spcPts val="150"/>
              </a:spcAft>
            </a:pPr>
            <a:r>
              <a:rPr sz="1500" b="1" i="0">
                <a:solidFill>
                  <a:srgbClr val="2F7D4F"/>
                </a:solidFill>
                <a:latin typeface="Georgia"/>
              </a:rPr>
              <a:t>Решения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400" y="1371600"/>
            <a:ext cx="5334000" cy="1123950"/>
          </a:xfrm>
          <a:prstGeom prst="roundRect">
            <a:avLst>
              <a:gd name="adj" fmla="val 6779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524000"/>
            <a:ext cx="38100" cy="819150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2250" y="1504950"/>
            <a:ext cx="481965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275" b="1" i="0">
                <a:solidFill>
                  <a:srgbClr val="1D1D1F"/>
                </a:solidFill>
                <a:latin typeface="Arial"/>
              </a:rPr>
              <a:t>Аудит операций на Урале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2250" y="1762125"/>
            <a:ext cx="4819650" cy="600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 i="0">
                <a:solidFill>
                  <a:srgbClr val="1D1D1F"/>
                </a:solidFill>
                <a:latin typeface="Arial"/>
              </a:rPr>
              <a:t>Провести анализ причин невыполнения плана и низкого качества сервиса на Урале, разработать план корректирующих мер на следующий квартал.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400" y="2609850"/>
            <a:ext cx="5334000" cy="923925"/>
          </a:xfrm>
          <a:prstGeom prst="roundRect">
            <a:avLst>
              <a:gd name="adj" fmla="val 8247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2762250"/>
            <a:ext cx="38100" cy="619125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2250" y="2743200"/>
            <a:ext cx="481965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275" b="1" i="0">
                <a:solidFill>
                  <a:srgbClr val="1D1D1F"/>
                </a:solidFill>
                <a:latin typeface="Arial"/>
              </a:rPr>
              <a:t>Оптимизация затрат на маркетинг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0" y="3000375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 i="0">
                <a:solidFill>
                  <a:srgbClr val="1D1D1F"/>
                </a:solidFill>
                <a:latin typeface="Arial"/>
              </a:rPr>
              <a:t>Пересмотреть бюджет маркетинга с учётом его роста на 55,6 %; оценить ROI кампаний для стабилизации маржи.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400" y="3648075"/>
            <a:ext cx="5334000" cy="923925"/>
          </a:xfrm>
          <a:prstGeom prst="roundRect">
            <a:avLst>
              <a:gd name="adj" fmla="val 8247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800475"/>
            <a:ext cx="38100" cy="619125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2250" y="3781425"/>
            <a:ext cx="481965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275" b="1" i="0">
                <a:solidFill>
                  <a:srgbClr val="1D1D1F"/>
                </a:solidFill>
                <a:latin typeface="Arial"/>
              </a:rPr>
              <a:t>Улучшение логистики в Сибири и на Урале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0" y="4038600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 i="0">
                <a:solidFill>
                  <a:srgbClr val="1D1D1F"/>
                </a:solidFill>
                <a:latin typeface="Arial"/>
              </a:rPr>
              <a:t>Внедрить меры по снижению уровня жалоб и повышению доли своевременных доставок в филиалах с наихудшими показателями.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6534150"/>
            <a:ext cx="16022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Финансовый отчёт · 3 квартал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59902" y="6534150"/>
            <a:ext cx="22249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9448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sz="2400" b="1" i="0">
                <a:solidFill>
                  <a:srgbClr val="1F3A5F"/>
                </a:solidFill>
                <a:latin typeface="Georgia"/>
              </a:rPr>
              <a:t>Проверка данных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81000"/>
            <a:ext cx="1143000" cy="381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990600"/>
          <a:ext cx="10972800" cy="171926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35052"/>
                <a:gridCol w="3735139"/>
                <a:gridCol w="4202609"/>
              </a:tblGrid>
              <a:tr h="352425">
                <a:tc>
                  <a:txBody>
                    <a:bodyPr wrap="square"/>
                    <a:lstStyle/>
                    <a:p>
                      <a:pPr algn="l"/>
                      <a:r>
                        <a:rPr sz="975" b="1" i="0">
                          <a:solidFill>
                            <a:srgbClr val="56616F"/>
                          </a:solidFill>
                          <a:latin typeface="Arial"/>
                        </a:rPr>
                        <a:t>Где</a:t>
                      </a:r>
                    </a:p>
                  </a:txBody>
                  <a:tcPr marT="85725" marR="114300" marB="85725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 i="0">
                          <a:solidFill>
                            <a:srgbClr val="56616F"/>
                          </a:solidFill>
                          <a:latin typeface="Arial"/>
                        </a:rPr>
                        <a:t>Что было</a:t>
                      </a:r>
                    </a:p>
                  </a:txBody>
                  <a:tcPr marT="85725" marR="114300" marB="85725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 i="0">
                          <a:solidFill>
                            <a:srgbClr val="56616F"/>
                          </a:solidFill>
                          <a:latin typeface="Arial"/>
                        </a:rPr>
                        <a:t>Что сделали</a:t>
                      </a:r>
                    </a:p>
                  </a:txBody>
                  <a:tcPr marT="85725" marR="114300" marB="85725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1F3A5F"/>
                      </a:solidFill>
                      <a:prstDash val="solid"/>
                    </a:lnB>
                    <a:noFill/>
                  </a:tcPr>
                </a:tc>
              </a:tr>
              <a:tr h="395288"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Юг › Июль факт (C5)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число записано текстом «224,0»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прочитано как 224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390525"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Сибирь › NPS (D8)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«нет данных»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B3352B"/>
                          </a:solidFill>
                          <a:latin typeface="Arial"/>
                        </a:rPr>
                        <a:t>значения нет, в расчётах не используется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  <a:tr h="581025"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manager_comments.docx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1D1D1F"/>
                          </a:solidFill>
                          <a:latin typeface="Arial"/>
                        </a:rPr>
                        <a:t>«рост к прошлому году составил около 12%»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5" b="0" i="0">
                          <a:solidFill>
                            <a:srgbClr val="B3352B"/>
                          </a:solidFill>
                          <a:latin typeface="Arial"/>
                        </a:rPr>
                        <a:t>По таблице: Рост выручки к прошлому году (компания) — 8,2 %. На слайдах — цифра из таблицы</a:t>
                      </a:r>
                    </a:p>
                  </a:txBody>
                  <a:tcPr marT="95250" marR="114300" marB="95250" marL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9600" y="6362700"/>
            <a:ext cx="1097280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34150"/>
            <a:ext cx="16022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Финансовый отчёт · 3 квартал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9902" y="6534150"/>
            <a:ext cx="22249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>
                <a:solidFill>
                  <a:srgbClr val="56616F"/>
                </a:solidFill>
                <a:latin typeface="Arial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Итоги 3 квартала: выручка и операционная эффективность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